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</p:sldIdLst>
  <p:sldSz cx="18288000" cy="10287000"/>
  <p:notesSz cx="6858000" cy="9144000"/>
  <p:embeddedFontLst>
    <p:embeddedFont>
      <p:font typeface="Arimo" panose="020B0604020202020204" charset="0"/>
      <p:regular r:id="rId17"/>
    </p:embeddedFont>
    <p:embeddedFont>
      <p:font typeface="Nirand Bold" panose="020B0604020202020204" charset="-34"/>
      <p:regular r:id="rId18"/>
    </p:embeddedFont>
    <p:embeddedFont>
      <p:font typeface="Nunito" pitchFamily="2" charset="0"/>
      <p:regular r:id="rId19"/>
    </p:embeddedFont>
    <p:embeddedFont>
      <p:font typeface="Nunito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67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92504" y="-2406016"/>
            <a:ext cx="16040420" cy="160404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368074"/>
            <a:ext cx="11124645" cy="245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 b="1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Multimodal Visual Question Answering Using BLIP-2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8216" y="7331582"/>
            <a:ext cx="7113828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Rakshya Chaudhary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Student ID:24048771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359304" y="488689"/>
            <a:ext cx="2513081" cy="251308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12" name="Group 12"/>
          <p:cNvGrpSpPr/>
          <p:nvPr/>
        </p:nvGrpSpPr>
        <p:grpSpPr>
          <a:xfrm>
            <a:off x="1629410" y="7236435"/>
            <a:ext cx="1586288" cy="158628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92504" y="1970436"/>
            <a:ext cx="11663968" cy="1166396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13276242" y="-767852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740084" y="762000"/>
            <a:ext cx="8807832" cy="20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PROBLEM STATEMENT &amp; MOTIVATION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06077" y="3658241"/>
            <a:ext cx="13439117" cy="278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Traditional VQA system: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        Use fixed answer vocabularies  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        Performed poorly in real-world scenarios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        Often rely on language bias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06077" y="7271391"/>
            <a:ext cx="14968503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Goal: To develop a flexible, generative VQA model that produces answer based on both image and question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40084" y="-5661115"/>
            <a:ext cx="14522629" cy="145226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384836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3153796" y="6668639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483078" y="762000"/>
            <a:ext cx="8807832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OBJECTIVE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85165" y="2660650"/>
            <a:ext cx="10474135" cy="489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To use pre-trained BLIP-2 model in VQAv2 dataset for generative question answering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To compare the proposed approach with traditional VQA with fixed vocabulary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To evaluate the qualitative and quantitative performance of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17447" y="7372841"/>
            <a:ext cx="8028675" cy="802867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322038" y="-1115182"/>
            <a:ext cx="2230365" cy="223036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517304" y="762000"/>
            <a:ext cx="11253392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DATASET AND EDA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81583" y="2981592"/>
            <a:ext cx="4985485" cy="1034820"/>
            <a:chOff x="0" y="0"/>
            <a:chExt cx="1313050" cy="2725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13050" cy="272545"/>
            </a:xfrm>
            <a:custGeom>
              <a:avLst/>
              <a:gdLst/>
              <a:ahLst/>
              <a:cxnLst/>
              <a:rect l="l" t="t" r="r" b="b"/>
              <a:pathLst>
                <a:path w="1313050" h="272545">
                  <a:moveTo>
                    <a:pt x="79197" y="0"/>
                  </a:moveTo>
                  <a:lnTo>
                    <a:pt x="1233852" y="0"/>
                  </a:lnTo>
                  <a:cubicBezTo>
                    <a:pt x="1277592" y="0"/>
                    <a:pt x="1313050" y="35458"/>
                    <a:pt x="1313050" y="79197"/>
                  </a:cubicBezTo>
                  <a:lnTo>
                    <a:pt x="1313050" y="193348"/>
                  </a:lnTo>
                  <a:cubicBezTo>
                    <a:pt x="1313050" y="214352"/>
                    <a:pt x="1304706" y="234496"/>
                    <a:pt x="1289853" y="249349"/>
                  </a:cubicBezTo>
                  <a:cubicBezTo>
                    <a:pt x="1275001" y="264201"/>
                    <a:pt x="1254857" y="272545"/>
                    <a:pt x="1233852" y="272545"/>
                  </a:cubicBezTo>
                  <a:lnTo>
                    <a:pt x="79197" y="272545"/>
                  </a:lnTo>
                  <a:cubicBezTo>
                    <a:pt x="35458" y="272545"/>
                    <a:pt x="0" y="237087"/>
                    <a:pt x="0" y="193348"/>
                  </a:cubicBezTo>
                  <a:lnTo>
                    <a:pt x="0" y="79197"/>
                  </a:lnTo>
                  <a:cubicBezTo>
                    <a:pt x="0" y="35458"/>
                    <a:pt x="35458" y="0"/>
                    <a:pt x="79197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13050" cy="310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81468" y="4171806"/>
            <a:ext cx="7138266" cy="278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MS-COCO images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Open-ended question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10 ground-truth answers per question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89463" y="3130701"/>
            <a:ext cx="4452012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Dataset: VQAv2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795265" y="2981592"/>
            <a:ext cx="5011153" cy="1034820"/>
            <a:chOff x="0" y="0"/>
            <a:chExt cx="1319810" cy="27254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19810" cy="272545"/>
            </a:xfrm>
            <a:custGeom>
              <a:avLst/>
              <a:gdLst/>
              <a:ahLst/>
              <a:cxnLst/>
              <a:rect l="l" t="t" r="r" b="b"/>
              <a:pathLst>
                <a:path w="1319810" h="272545">
                  <a:moveTo>
                    <a:pt x="78792" y="0"/>
                  </a:moveTo>
                  <a:lnTo>
                    <a:pt x="1241018" y="0"/>
                  </a:lnTo>
                  <a:cubicBezTo>
                    <a:pt x="1261915" y="0"/>
                    <a:pt x="1281956" y="8301"/>
                    <a:pt x="1296732" y="23078"/>
                  </a:cubicBezTo>
                  <a:cubicBezTo>
                    <a:pt x="1311509" y="37854"/>
                    <a:pt x="1319810" y="57895"/>
                    <a:pt x="1319810" y="78792"/>
                  </a:cubicBezTo>
                  <a:lnTo>
                    <a:pt x="1319810" y="193753"/>
                  </a:lnTo>
                  <a:cubicBezTo>
                    <a:pt x="1319810" y="214650"/>
                    <a:pt x="1311509" y="234691"/>
                    <a:pt x="1296732" y="249468"/>
                  </a:cubicBezTo>
                  <a:cubicBezTo>
                    <a:pt x="1281956" y="264244"/>
                    <a:pt x="1261915" y="272545"/>
                    <a:pt x="1241018" y="272545"/>
                  </a:cubicBezTo>
                  <a:lnTo>
                    <a:pt x="78792" y="272545"/>
                  </a:lnTo>
                  <a:cubicBezTo>
                    <a:pt x="57895" y="272545"/>
                    <a:pt x="37854" y="264244"/>
                    <a:pt x="23078" y="249468"/>
                  </a:cubicBezTo>
                  <a:cubicBezTo>
                    <a:pt x="8301" y="234691"/>
                    <a:pt x="0" y="214650"/>
                    <a:pt x="0" y="193753"/>
                  </a:cubicBezTo>
                  <a:lnTo>
                    <a:pt x="0" y="78792"/>
                  </a:lnTo>
                  <a:cubicBezTo>
                    <a:pt x="0" y="57895"/>
                    <a:pt x="8301" y="37854"/>
                    <a:pt x="23078" y="23078"/>
                  </a:cubicBezTo>
                  <a:cubicBezTo>
                    <a:pt x="37854" y="8301"/>
                    <a:pt x="57895" y="0"/>
                    <a:pt x="78792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19810" cy="310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144000" y="4162281"/>
            <a:ext cx="9144000" cy="531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Question Type Frequency Analysis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Answer Frequency and Long-Tail Distribution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Answer Variability and Annotator Agreement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Qualitative Multimodal Examples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Question Length Distribution</a:t>
            </a:r>
          </a:p>
          <a:p>
            <a:pPr algn="l">
              <a:lnSpc>
                <a:spcPts val="5320"/>
              </a:lnSpc>
            </a:pPr>
            <a:endParaRPr lang="en-US" sz="380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417447" y="3130701"/>
            <a:ext cx="2336835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EDA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17447" y="7372841"/>
            <a:ext cx="8028675" cy="802867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322038" y="-1115182"/>
            <a:ext cx="2230365" cy="223036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52403" y="830062"/>
            <a:ext cx="12003623" cy="1034820"/>
            <a:chOff x="0" y="0"/>
            <a:chExt cx="3161448" cy="2725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61448" cy="272545"/>
            </a:xfrm>
            <a:custGeom>
              <a:avLst/>
              <a:gdLst/>
              <a:ahLst/>
              <a:cxnLst/>
              <a:rect l="l" t="t" r="r" b="b"/>
              <a:pathLst>
                <a:path w="3161448" h="272545">
                  <a:moveTo>
                    <a:pt x="32893" y="0"/>
                  </a:moveTo>
                  <a:lnTo>
                    <a:pt x="3128555" y="0"/>
                  </a:lnTo>
                  <a:cubicBezTo>
                    <a:pt x="3146721" y="0"/>
                    <a:pt x="3161448" y="14727"/>
                    <a:pt x="3161448" y="32893"/>
                  </a:cubicBezTo>
                  <a:lnTo>
                    <a:pt x="3161448" y="239652"/>
                  </a:lnTo>
                  <a:cubicBezTo>
                    <a:pt x="3161448" y="248376"/>
                    <a:pt x="3157983" y="256742"/>
                    <a:pt x="3151814" y="262911"/>
                  </a:cubicBezTo>
                  <a:cubicBezTo>
                    <a:pt x="3145645" y="269080"/>
                    <a:pt x="3137279" y="272545"/>
                    <a:pt x="3128555" y="272545"/>
                  </a:cubicBezTo>
                  <a:lnTo>
                    <a:pt x="32893" y="272545"/>
                  </a:lnTo>
                  <a:cubicBezTo>
                    <a:pt x="24169" y="272545"/>
                    <a:pt x="15803" y="269080"/>
                    <a:pt x="9634" y="262911"/>
                  </a:cubicBezTo>
                  <a:cubicBezTo>
                    <a:pt x="3466" y="256742"/>
                    <a:pt x="0" y="248376"/>
                    <a:pt x="0" y="239652"/>
                  </a:cubicBezTo>
                  <a:lnTo>
                    <a:pt x="0" y="32893"/>
                  </a:lnTo>
                  <a:cubicBezTo>
                    <a:pt x="0" y="24169"/>
                    <a:pt x="3466" y="15803"/>
                    <a:pt x="9634" y="9634"/>
                  </a:cubicBezTo>
                  <a:cubicBezTo>
                    <a:pt x="15803" y="3466"/>
                    <a:pt x="24169" y="0"/>
                    <a:pt x="32893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161448" cy="310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924139" y="3373234"/>
            <a:ext cx="11260151" cy="5608614"/>
          </a:xfrm>
          <a:custGeom>
            <a:avLst/>
            <a:gdLst/>
            <a:ahLst/>
            <a:cxnLst/>
            <a:rect l="l" t="t" r="r" b="b"/>
            <a:pathLst>
              <a:path w="11260151" h="5608614">
                <a:moveTo>
                  <a:pt x="0" y="0"/>
                </a:moveTo>
                <a:lnTo>
                  <a:pt x="11260151" y="0"/>
                </a:lnTo>
                <a:lnTo>
                  <a:pt x="11260151" y="5608614"/>
                </a:lnTo>
                <a:lnTo>
                  <a:pt x="0" y="56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2924139" y="2276215"/>
            <a:ext cx="1145597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shows different types of questions in the dataset and their imbalance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42767" y="979172"/>
            <a:ext cx="9985598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EDA 1: Question Type Frequency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17447" y="7372841"/>
            <a:ext cx="8028675" cy="802867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322038" y="-1115182"/>
            <a:ext cx="2230365" cy="223036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52403" y="830062"/>
            <a:ext cx="14353320" cy="1034820"/>
            <a:chOff x="0" y="0"/>
            <a:chExt cx="3780298" cy="2725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80298" cy="272545"/>
            </a:xfrm>
            <a:custGeom>
              <a:avLst/>
              <a:gdLst/>
              <a:ahLst/>
              <a:cxnLst/>
              <a:rect l="l" t="t" r="r" b="b"/>
              <a:pathLst>
                <a:path w="3780298" h="272545">
                  <a:moveTo>
                    <a:pt x="27508" y="0"/>
                  </a:moveTo>
                  <a:lnTo>
                    <a:pt x="3752790" y="0"/>
                  </a:lnTo>
                  <a:cubicBezTo>
                    <a:pt x="3767982" y="0"/>
                    <a:pt x="3780298" y="12316"/>
                    <a:pt x="3780298" y="27508"/>
                  </a:cubicBezTo>
                  <a:lnTo>
                    <a:pt x="3780298" y="245037"/>
                  </a:lnTo>
                  <a:cubicBezTo>
                    <a:pt x="3780298" y="252332"/>
                    <a:pt x="3777400" y="259329"/>
                    <a:pt x="3772241" y="264488"/>
                  </a:cubicBezTo>
                  <a:cubicBezTo>
                    <a:pt x="3767082" y="269647"/>
                    <a:pt x="3760086" y="272545"/>
                    <a:pt x="3752790" y="272545"/>
                  </a:cubicBezTo>
                  <a:lnTo>
                    <a:pt x="27508" y="272545"/>
                  </a:lnTo>
                  <a:cubicBezTo>
                    <a:pt x="12316" y="272545"/>
                    <a:pt x="0" y="260229"/>
                    <a:pt x="0" y="245037"/>
                  </a:cubicBezTo>
                  <a:lnTo>
                    <a:pt x="0" y="27508"/>
                  </a:lnTo>
                  <a:cubicBezTo>
                    <a:pt x="0" y="12316"/>
                    <a:pt x="12316" y="0"/>
                    <a:pt x="27508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780298" cy="310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01949" y="3593841"/>
            <a:ext cx="11507336" cy="5461109"/>
          </a:xfrm>
          <a:custGeom>
            <a:avLst/>
            <a:gdLst/>
            <a:ahLst/>
            <a:cxnLst/>
            <a:rect l="l" t="t" r="r" b="b"/>
            <a:pathLst>
              <a:path w="11507336" h="5461109">
                <a:moveTo>
                  <a:pt x="0" y="0"/>
                </a:moveTo>
                <a:lnTo>
                  <a:pt x="11507336" y="0"/>
                </a:lnTo>
                <a:lnTo>
                  <a:pt x="11507336" y="5461108"/>
                </a:lnTo>
                <a:lnTo>
                  <a:pt x="0" y="5461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2924139" y="2276215"/>
            <a:ext cx="13749052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shows strong long-tail answer imbalance, motivating use of generative VQA model instead of a fixed-vocabulary approach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24139" y="1048507"/>
            <a:ext cx="12862956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EDA 2: Answer Frequency and Long-Tail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17447" y="7372841"/>
            <a:ext cx="8028675" cy="802867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322038" y="-1115182"/>
            <a:ext cx="2230365" cy="223036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52403" y="830062"/>
            <a:ext cx="14155153" cy="1034820"/>
            <a:chOff x="0" y="0"/>
            <a:chExt cx="3728106" cy="2725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28106" cy="272545"/>
            </a:xfrm>
            <a:custGeom>
              <a:avLst/>
              <a:gdLst/>
              <a:ahLst/>
              <a:cxnLst/>
              <a:rect l="l" t="t" r="r" b="b"/>
              <a:pathLst>
                <a:path w="3728106" h="272545">
                  <a:moveTo>
                    <a:pt x="27894" y="0"/>
                  </a:moveTo>
                  <a:lnTo>
                    <a:pt x="3700213" y="0"/>
                  </a:lnTo>
                  <a:cubicBezTo>
                    <a:pt x="3707611" y="0"/>
                    <a:pt x="3714705" y="2939"/>
                    <a:pt x="3719937" y="8170"/>
                  </a:cubicBezTo>
                  <a:cubicBezTo>
                    <a:pt x="3725168" y="13401"/>
                    <a:pt x="3728106" y="20496"/>
                    <a:pt x="3728106" y="27894"/>
                  </a:cubicBezTo>
                  <a:lnTo>
                    <a:pt x="3728106" y="244652"/>
                  </a:lnTo>
                  <a:cubicBezTo>
                    <a:pt x="3728106" y="252049"/>
                    <a:pt x="3725168" y="259144"/>
                    <a:pt x="3719937" y="264375"/>
                  </a:cubicBezTo>
                  <a:cubicBezTo>
                    <a:pt x="3714705" y="269606"/>
                    <a:pt x="3707611" y="272545"/>
                    <a:pt x="3700213" y="272545"/>
                  </a:cubicBezTo>
                  <a:lnTo>
                    <a:pt x="27894" y="272545"/>
                  </a:lnTo>
                  <a:cubicBezTo>
                    <a:pt x="20496" y="272545"/>
                    <a:pt x="13401" y="269606"/>
                    <a:pt x="8170" y="264375"/>
                  </a:cubicBezTo>
                  <a:cubicBezTo>
                    <a:pt x="2939" y="259144"/>
                    <a:pt x="0" y="252049"/>
                    <a:pt x="0" y="244652"/>
                  </a:cubicBezTo>
                  <a:lnTo>
                    <a:pt x="0" y="27894"/>
                  </a:lnTo>
                  <a:cubicBezTo>
                    <a:pt x="0" y="20496"/>
                    <a:pt x="2939" y="13401"/>
                    <a:pt x="8170" y="8170"/>
                  </a:cubicBezTo>
                  <a:cubicBezTo>
                    <a:pt x="13401" y="2939"/>
                    <a:pt x="20496" y="0"/>
                    <a:pt x="27894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728106" cy="310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106200" y="3637915"/>
            <a:ext cx="14325585" cy="4852792"/>
          </a:xfrm>
          <a:custGeom>
            <a:avLst/>
            <a:gdLst/>
            <a:ahLst/>
            <a:cxnLst/>
            <a:rect l="l" t="t" r="r" b="b"/>
            <a:pathLst>
              <a:path w="14325585" h="4852792">
                <a:moveTo>
                  <a:pt x="0" y="0"/>
                </a:moveTo>
                <a:lnTo>
                  <a:pt x="14325585" y="0"/>
                </a:lnTo>
                <a:lnTo>
                  <a:pt x="14325585" y="4852792"/>
                </a:lnTo>
                <a:lnTo>
                  <a:pt x="0" y="4852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2924139" y="2276215"/>
            <a:ext cx="11455974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Analyses multiple human answers per question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Reveals high aggreement for clear imahes and variablity for ambiguous cases.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24139" y="979172"/>
            <a:ext cx="1317082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EDA 3: Answer Variablitlity and Annotator Agreement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29662" y="7824967"/>
            <a:ext cx="8028675" cy="802867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13276242" y="-767852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204697" y="3119120"/>
            <a:ext cx="580876" cy="58087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14258" y="1444625"/>
            <a:ext cx="580876" cy="58087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740084" y="762000"/>
            <a:ext cx="8807832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MODEL ARCHITECTURE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90597" y="3052445"/>
            <a:ext cx="10978789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Model: </a:t>
            </a:r>
            <a:r>
              <a:rPr lang="en-US" sz="3999" b="1" dirty="0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BLIP-2</a:t>
            </a:r>
          </a:p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Three Components: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Vision Transformer (</a:t>
            </a:r>
            <a:r>
              <a:rPr lang="en-US" sz="3999" dirty="0" err="1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ViT</a:t>
            </a: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Querying Transformer (Q-Former)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Large Language Model (OPT-2.7B)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23108" y="254048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607388" y="2795663"/>
            <a:ext cx="10438227" cy="500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Model fine-tuned on 5000 images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3000 images for validation and 2000 images for testing and evaluation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Trained using </a:t>
            </a:r>
            <a:r>
              <a:rPr lang="en-US" sz="3999" dirty="0" err="1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PyTorch</a:t>
            </a: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and </a:t>
            </a:r>
            <a:r>
              <a:rPr lang="en-US" sz="3999" dirty="0" err="1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AdamW</a:t>
            </a: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optimizer for 3 epochs, </a:t>
            </a:r>
            <a:r>
              <a:rPr lang="en-US" sz="3999" dirty="0" err="1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batch_size</a:t>
            </a: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8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Final Training loss and validation loss: 0.500 and 0.426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05744" y="762000"/>
            <a:ext cx="6476512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23108" y="254048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48775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499303" y="2795663"/>
            <a:ext cx="10438227" cy="489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Input: Image + Question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Process: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Image and question jointly encoded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Model generates answer token-by-token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Output: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Natural Language answer (not fixed labels)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05744" y="762000"/>
            <a:ext cx="7637205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INFERENCE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487" y="-1916547"/>
            <a:ext cx="14120094" cy="1412009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322038" y="-1115182"/>
            <a:ext cx="2230365" cy="223036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699236" y="1868487"/>
            <a:ext cx="7514909" cy="6847428"/>
          </a:xfrm>
          <a:custGeom>
            <a:avLst/>
            <a:gdLst/>
            <a:ahLst/>
            <a:cxnLst/>
            <a:rect l="l" t="t" r="r" b="b"/>
            <a:pathLst>
              <a:path w="7514909" h="6847428">
                <a:moveTo>
                  <a:pt x="0" y="0"/>
                </a:moveTo>
                <a:lnTo>
                  <a:pt x="7514909" y="0"/>
                </a:lnTo>
                <a:lnTo>
                  <a:pt x="7514909" y="6847429"/>
                </a:lnTo>
                <a:lnTo>
                  <a:pt x="0" y="68474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3635413" y="346075"/>
            <a:ext cx="12446348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EVALUATION METHODS &amp; RESULTS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7221" y="1801812"/>
            <a:ext cx="7241694" cy="489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Metric: VQA Accuracy: 48%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Evaluation on 2000 test samples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Quantitative accuracy and qualitative Visualization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Strong performance on object and action questions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C2DB7-7F5F-3251-E029-E47E4BC9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4FB5A2-C7DE-3140-9EE7-D938DA16894C}"/>
              </a:ext>
            </a:extLst>
          </p:cNvPr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293AE1E-5D81-617B-CE60-9167EA32234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511F5A2-8BAC-758A-65E6-5B28F03D811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F02F294-0FF3-07D6-32CF-23BAEE7ABD50}"/>
              </a:ext>
            </a:extLst>
          </p:cNvPr>
          <p:cNvGrpSpPr/>
          <p:nvPr/>
        </p:nvGrpSpPr>
        <p:grpSpPr>
          <a:xfrm>
            <a:off x="-1523108" y="2540483"/>
            <a:ext cx="3517329" cy="351732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870D089-04B8-3724-B651-6C589BCE0F4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AD8D26A-F327-4AA8-1C62-20F77D5F87C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7B1358BB-D3D8-3BCA-A64A-077CAB80B778}"/>
              </a:ext>
            </a:extLst>
          </p:cNvPr>
          <p:cNvSpPr/>
          <p:nvPr/>
        </p:nvSpPr>
        <p:spPr>
          <a:xfrm>
            <a:off x="1028700" y="9248775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GB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234F9D1-2F62-486B-AFEF-E3572451D601}"/>
              </a:ext>
            </a:extLst>
          </p:cNvPr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D44F953-47AC-0598-9EA5-CCDEEE82E59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A96819E-8EB0-B0B9-FF38-93C0DA0DE04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65005B61-48E5-B276-1ED8-C6DEED27EC4B}"/>
              </a:ext>
            </a:extLst>
          </p:cNvPr>
          <p:cNvSpPr txBox="1"/>
          <p:nvPr/>
        </p:nvSpPr>
        <p:spPr>
          <a:xfrm>
            <a:off x="5905744" y="762000"/>
            <a:ext cx="7637205" cy="935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Qualitative Evaluation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1C9355-0BB6-7EC7-8C18-E04317800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85" y="3149910"/>
            <a:ext cx="5891211" cy="47011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ABCD5D-6E20-B537-20A7-F5BF65435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196" y="3149910"/>
            <a:ext cx="6032844" cy="47903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9A57AB8-8C28-240D-78E0-9DC7B9383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7154" y="3155607"/>
            <a:ext cx="4773861" cy="497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85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437604" y="3967038"/>
            <a:ext cx="8028675" cy="802867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17259300" y="3262130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968260" y="346075"/>
            <a:ext cx="11451497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DISCUSSION AND LIMITATION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591071" y="3085658"/>
            <a:ext cx="580876" cy="58087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511284" y="3018983"/>
            <a:ext cx="10185645" cy="207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Achievements: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Overcomes fixed-answer limitations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Flexible and generative responses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591071" y="5438582"/>
            <a:ext cx="580876" cy="58087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511284" y="5371907"/>
            <a:ext cx="10185645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Limitations: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Trained on reduced dataset 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Open ended questions, confusing and reasoning questions remain challenging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882213" y="-1345629"/>
            <a:ext cx="13341342" cy="1334134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17259300" y="3262130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58239" y="4010218"/>
            <a:ext cx="6695941" cy="20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CONCLUSION &amp; FUTURE 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1716569"/>
            <a:ext cx="6668316" cy="350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Conclusion: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Successfully developed a generative VQA model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Demonstrated for real-world scenarios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5435047"/>
            <a:ext cx="6668316" cy="280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Future Work: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Larger datasets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Advanced architecture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Real-time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1965" y="-2876710"/>
            <a:ext cx="16040420" cy="160404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11909" y="2963670"/>
            <a:ext cx="7864182" cy="462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10"/>
              </a:lnSpc>
            </a:pPr>
            <a:r>
              <a:rPr lang="en-US" sz="17000" b="1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Thank You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076091" y="710993"/>
            <a:ext cx="2513081" cy="25130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2740932" y="6266276"/>
            <a:ext cx="1586288" cy="158628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372</Words>
  <Application>Microsoft Office PowerPoint</Application>
  <PresentationFormat>Custom</PresentationFormat>
  <Paragraphs>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Arimo</vt:lpstr>
      <vt:lpstr>Nunito Bold</vt:lpstr>
      <vt:lpstr>Nirand Bold</vt:lpstr>
      <vt:lpstr>Nunito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Visual Question Answering Using BLIP-2</dc:title>
  <cp:lastModifiedBy>Rakshya Chaudhary</cp:lastModifiedBy>
  <cp:revision>5</cp:revision>
  <dcterms:created xsi:type="dcterms:W3CDTF">2006-08-16T00:00:00Z</dcterms:created>
  <dcterms:modified xsi:type="dcterms:W3CDTF">2026-02-02T02:04:56Z</dcterms:modified>
  <dc:identifier>DAHAF6B7afE</dc:identifier>
</cp:coreProperties>
</file>